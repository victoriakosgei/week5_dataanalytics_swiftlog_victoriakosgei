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0"/>
      <ns0:regular ns1:id="rIdFont21"/>
    </ns0:embeddedFont>
    <ns0:embeddedFont>
      <ns0:font typeface="Space Grotesk"/>
      <ns0:bold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2f41dff6-8a45-4525-a6ae-651617f3d81e.fntdata" /><ns0:Relationship Id="rIdFont21" Type="http://schemas.openxmlformats.org/officeDocument/2006/relationships/font" Target="fonts/e7b3b002-5d46-4ed1-81e5-e13c0accd3e6.fntdata" /><ns0:Relationship Id="rIdFont22" Type="http://schemas.openxmlformats.org/officeDocument/2006/relationships/font" Target="fonts/b3cd7149-d93c-457d-9c6a-b0bcf2b2510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86425"/>
            <a:ext cx="10972800" cy="561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68642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333375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24950" y="657225"/>
            <a:ext cx="30670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Executive Business Intelligence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31839"/>
            <a:ext cx="10120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SUPPLY CHAIN ANALYTICS &amp;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655689"/>
            <a:ext cx="8601075" cy="1089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b="1" sz="3900" i="0" u="none">
                <a:solidFill>
                  <a:srgbClr val="F8FAFC"/>
                </a:solidFill>
                <a:latin typeface="Space Grotesk"/>
              </a:rPr>
              <a:t>Optimizing Operations &amp; Driving Growth Across Nigeria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973710"/>
            <a:ext cx="10120312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Data-driven evaluation of fulfillment bottlenecks, inventory imbalances, and strategic growth drivers.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3125" y="6096000"/>
            <a:ext cx="2274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Data Scope: Jan 1 – Sep 8,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609600"/>
            <a:ext cx="13620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Space Grotesk"/>
              </a:rPr>
              <a:t>SWIFTLOG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924550"/>
            <a:ext cx="3559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AnalystLab Africa Consulting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096000"/>
            <a:ext cx="35599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Data Analytics Track | Emeh Franklin Chukwuebuka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05087"/>
            <a:ext cx="5181600" cy="225742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0" y="2705100"/>
            <a:ext cx="172715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75550" y="2705100"/>
            <a:ext cx="172715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55100" y="2705100"/>
            <a:ext cx="172715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0" y="3810000"/>
            <a:ext cx="172715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75550" y="3810000"/>
            <a:ext cx="172715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55100" y="3810000"/>
            <a:ext cx="172715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BUSINESS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Rapid Expansion Meets Operational Friction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09887"/>
            <a:ext cx="60007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Core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62312"/>
            <a:ext cx="4667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SwiftLog Logistics operates nationwide warehousing, inventory control, supplier integration, and last-mile delivery services across Nigeria.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00512"/>
            <a:ext cx="4667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Rapid market expansion has strained fulfillment networks, causing delivery delays, stock imbalances, and reduced visibility.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8231" y="2895600"/>
            <a:ext cx="168268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284C7"/>
                </a:solidFill>
                <a:latin typeface="Plus Jakarta Sans"/>
              </a:rPr>
              <a:t>5,000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8231" y="3314700"/>
            <a:ext cx="1682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64748B"/>
                </a:solidFill>
                <a:latin typeface="Plus Jakarta Sans"/>
              </a:rPr>
              <a:t>Total 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7781" y="2895600"/>
            <a:ext cx="168268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284C7"/>
                </a:solidFill>
                <a:latin typeface="Plus Jakarta Sans"/>
              </a:rP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7781" y="3314700"/>
            <a:ext cx="1682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64748B"/>
                </a:solidFill>
                <a:latin typeface="Plus Jakarta Sans"/>
              </a:rPr>
              <a:t>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7331" y="2895600"/>
            <a:ext cx="168268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284C7"/>
                </a:solidFill>
                <a:latin typeface="Plus Jakarta Sans"/>
              </a:rPr>
              <a:t>250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7331" y="3314700"/>
            <a:ext cx="1682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64748B"/>
                </a:solidFill>
                <a:latin typeface="Plus Jakarta Sans"/>
              </a:rPr>
              <a:t>Active SKUs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8231" y="4000500"/>
            <a:ext cx="168268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284C7"/>
                </a:solidFill>
                <a:latin typeface="Plus Jakarta Sans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8231" y="4419600"/>
            <a:ext cx="1682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64748B"/>
                </a:solidFill>
                <a:latin typeface="Plus Jakarta Sans"/>
              </a:rPr>
              <a:t>Warehouses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7781" y="4000500"/>
            <a:ext cx="168268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284C7"/>
                </a:solidFill>
                <a:latin typeface="Plus Jakarta Sans"/>
              </a:rPr>
              <a:t>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7781" y="4419600"/>
            <a:ext cx="1682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64748B"/>
                </a:solidFill>
                <a:latin typeface="Plus Jakarta Sans"/>
              </a:rPr>
              <a:t>Employees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7331" y="4000500"/>
            <a:ext cx="168268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284C7"/>
                </a:solidFill>
                <a:latin typeface="Plus Jakarta Sans"/>
              </a:rPr>
              <a:t>150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7331" y="4419600"/>
            <a:ext cx="1682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64748B"/>
                </a:solidFill>
                <a:latin typeface="Plus Jakarta Sans"/>
              </a:rPr>
              <a:t>Suppliers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7025"/>
            <a:ext cx="2600325" cy="1733550"/>
          </a:xfrm>
          <a:prstGeom prst="roundRect">
            <a:avLst>
              <a:gd name="adj" fmla="val 65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867025"/>
            <a:ext cx="2600325" cy="1733550"/>
          </a:xfrm>
          <a:prstGeom prst="roundRect">
            <a:avLst>
              <a:gd name="adj" fmla="val 65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867025"/>
            <a:ext cx="2600325" cy="1733550"/>
          </a:xfrm>
          <a:prstGeom prst="roundRect">
            <a:avLst>
              <a:gd name="adj" fmla="val 65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867025"/>
            <a:ext cx="2600325" cy="1733550"/>
          </a:xfrm>
          <a:prstGeom prst="roundRect">
            <a:avLst>
              <a:gd name="adj" fmla="val 65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867025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00425" y="2867025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1250" y="2867025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82075" y="2867025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33725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025" y="3133725"/>
            <a:ext cx="2857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850" y="3133725"/>
            <a:ext cx="25717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0675" y="3133725"/>
            <a:ext cx="28575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STRATEGIC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Project Objectives &amp; BI 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476625"/>
            <a:ext cx="28128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Performance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771900"/>
            <a:ext cx="22383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Establish centralized executive visibility across revenue, delivery speeds, and cancellations.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9025" y="3476625"/>
            <a:ext cx="28128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Fulfillment Efficiency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9025" y="3771900"/>
            <a:ext cx="22383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Identify root causes of shipment delays and reduce order cancellation rates.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850" y="3476625"/>
            <a:ext cx="28128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Inventory &amp; Warehousing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850" y="3771900"/>
            <a:ext cx="22383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Optimize stock distribution across 15 hubs to eliminate stockouts and capital locking.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0675" y="3476625"/>
            <a:ext cx="28128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Quality &amp; Returns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0675" y="3771900"/>
            <a:ext cx="22383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Reduce product returns by fixing warehouse picking errors and transit damage.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964709" y="2573387"/>
            <a:ext cx="4617690" cy="2320825"/>
          </a:xfrm>
          <a:prstGeom prst="roundRect">
            <a:avLst>
              <a:gd name="adj" fmla="val 49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52700"/>
            <a:ext cx="6126509" cy="504825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171825"/>
            <a:ext cx="6126509" cy="504825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790950"/>
            <a:ext cx="6126509" cy="504825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410075"/>
            <a:ext cx="6126509" cy="504825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552700"/>
            <a:ext cx="38100" cy="5048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171825"/>
            <a:ext cx="38100" cy="5048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3790950"/>
            <a:ext cx="38100" cy="5048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4410075"/>
            <a:ext cx="38100" cy="5048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Data Preparation &amp; Star-Schema Modeling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1409" y="2840087"/>
            <a:ext cx="496059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Key Analytical Assumptions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705100"/>
            <a:ext cx="9334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1. Import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8300" y="2719387"/>
            <a:ext cx="4524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Loaded 11 disparate CSV tables into Power BI environment.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324225"/>
            <a:ext cx="8858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2. 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90675" y="3338512"/>
            <a:ext cx="5988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Standardized US date parsing, removed duplicates, aggregated movements.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943350"/>
            <a:ext cx="9334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3.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38300" y="3957637"/>
            <a:ext cx="4572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Built star schema: 5 dimension tables linked to 6 fact tables.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4562475"/>
            <a:ext cx="1095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4. 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0225" y="4576762"/>
            <a:ext cx="5262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Authored robust DAX logic for KPIs and scenario-based parameters.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6184" y="3154888"/>
            <a:ext cx="666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2859" y="3154412"/>
            <a:ext cx="4789140" cy="210442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1" sz="975" i="0" u="none">
                <a:solidFill>
                  <a:srgbClr val="64748B"/>
                </a:solidFill>
                <a:latin typeface="Plus Jakarta Sans"/>
              </a:rPr>
              <a:t>On-Time Delivery:</a:t>
            </a:r>
            <a:r>
              <a:rPr b="0" sz="975" i="0" u="none">
                <a:solidFill>
                  <a:srgbClr val="64748B"/>
                </a:solidFill>
                <a:latin typeface="Plus Jakarta Sans"/>
              </a:rPr>
              <a:t> Standardized as 0 to 2 days relative to target.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6184" y="3365331"/>
            <a:ext cx="666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2859" y="3364855"/>
            <a:ext cx="4008090" cy="420885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1" sz="975" i="0" u="none">
                <a:solidFill>
                  <a:srgbClr val="64748B"/>
                </a:solidFill>
                <a:latin typeface="Plus Jakarta Sans"/>
              </a:rPr>
              <a:t>Delivered Revenue:</a:t>
            </a:r>
            <a:r>
              <a:rPr b="0" sz="975" i="0" u="none">
                <a:solidFill>
                  <a:srgbClr val="64748B"/>
                </a:solidFill>
                <a:latin typeface="Plus Jakarta Sans"/>
              </a:rPr>
              <a:t> Recognized strictly upon successful delivery completion.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6184" y="3786217"/>
            <a:ext cx="666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2859" y="3785741"/>
            <a:ext cx="4008090" cy="420885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1" sz="975" i="0" u="none">
                <a:solidFill>
                  <a:srgbClr val="64748B"/>
                </a:solidFill>
                <a:latin typeface="Plus Jakarta Sans"/>
              </a:rPr>
              <a:t>Supplier Linkage:</a:t>
            </a:r>
            <a:r>
              <a:rPr b="0" sz="975" i="0" u="none">
                <a:solidFill>
                  <a:srgbClr val="64748B"/>
                </a:solidFill>
                <a:latin typeface="Plus Jakarta Sans"/>
              </a:rPr>
              <a:t> Supplier details evaluated at network level due to key limits.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6184" y="4207103"/>
            <a:ext cx="666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2859" y="4206626"/>
            <a:ext cx="4008090" cy="420885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1" sz="975" i="0" u="none">
                <a:solidFill>
                  <a:srgbClr val="64748B"/>
                </a:solidFill>
                <a:latin typeface="Plus Jakarta Sans"/>
              </a:rPr>
              <a:t>Stock Calculations:</a:t>
            </a:r>
            <a:r>
              <a:rPr b="0" sz="975" i="0" u="none">
                <a:solidFill>
                  <a:srgbClr val="64748B"/>
                </a:solidFill>
                <a:latin typeface="Plus Jakarta Sans"/>
              </a:rPr>
              <a:t> Physical stock derived via net sum of movements.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7794" y="2724298"/>
            <a:ext cx="5174605" cy="2018853"/>
          </a:xfrm>
          <a:prstGeom prst="roundRect">
            <a:avLst>
              <a:gd name="adj" fmla="val 566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043112"/>
            <a:ext cx="5569594" cy="600075"/>
          </a:xfrm>
          <a:prstGeom prst="roundRect">
            <a:avLst>
              <a:gd name="adj" fmla="val 1269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738437"/>
            <a:ext cx="5569594" cy="600075"/>
          </a:xfrm>
          <a:prstGeom prst="roundRect">
            <a:avLst>
              <a:gd name="adj" fmla="val 1269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433762"/>
            <a:ext cx="5569594" cy="600075"/>
          </a:xfrm>
          <a:prstGeom prst="roundRect">
            <a:avLst>
              <a:gd name="adj" fmla="val 1269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129087"/>
            <a:ext cx="5569594" cy="600075"/>
          </a:xfrm>
          <a:prstGeom prst="roundRect">
            <a:avLst>
              <a:gd name="adj" fmla="val 1269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824412"/>
            <a:ext cx="5569594" cy="600075"/>
          </a:xfrm>
          <a:prstGeom prst="roundRect">
            <a:avLst>
              <a:gd name="adj" fmla="val 1269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ANALYTICS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Five-Page Executive Power BI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4494" y="2990998"/>
            <a:ext cx="551750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lus Jakarta Sans"/>
              </a:rPr>
              <a:t>Interactive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2176462"/>
            <a:ext cx="68600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1. Executive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2357437"/>
            <a:ext cx="65333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Top-level revenue, fulfillment splits, returns, and core metrics.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050" y="2871787"/>
            <a:ext cx="68600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2. Customer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3052762"/>
            <a:ext cx="65333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Cohort retention, geographic concentration, and order frequency.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" y="3567112"/>
            <a:ext cx="68600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3. Inventory &amp; Warehouse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" y="3748087"/>
            <a:ext cx="65333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Hub capacity usage, stock balance, and critical stockouts.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50" y="4262437"/>
            <a:ext cx="68600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4. Shipment &amp;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4443412"/>
            <a:ext cx="65333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Regional lag analysis, transit duration buckets, and delay drivers.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050" y="4957762"/>
            <a:ext cx="68600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5. Supplier &amp; 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5138737"/>
            <a:ext cx="65333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SKU contribution, return root-causes, and vendor scorecards.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9269" y="3364378"/>
            <a:ext cx="66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5944" y="3362473"/>
            <a:ext cx="5346055" cy="222795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1" sz="975" i="0" u="none">
                <a:solidFill>
                  <a:srgbClr val="CBD5E1"/>
                </a:solidFill>
                <a:latin typeface="Plus Jakarta Sans"/>
              </a:rPr>
              <a:t>Synchronized Slicers: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Cross-filtering by region and date.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9269" y="3587174"/>
            <a:ext cx="66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5944" y="3585269"/>
            <a:ext cx="5346055" cy="222795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1" sz="975" i="0" u="none">
                <a:solidFill>
                  <a:srgbClr val="CBD5E1"/>
                </a:solidFill>
                <a:latin typeface="Plus Jakarta Sans"/>
              </a:rPr>
              <a:t>Drill-Through Actions: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Instant hub-to-SKU granular view.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9269" y="3809970"/>
            <a:ext cx="66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5944" y="3808065"/>
            <a:ext cx="5346055" cy="222795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1" sz="975" i="0" u="none">
                <a:solidFill>
                  <a:srgbClr val="CBD5E1"/>
                </a:solidFill>
                <a:latin typeface="Plus Jakarta Sans"/>
              </a:rPr>
              <a:t>Dynamic Tooltips: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Rich contextual metric popups.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9269" y="4032765"/>
            <a:ext cx="66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944" y="4030860"/>
            <a:ext cx="5346055" cy="222795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1" sz="975" i="0" u="none">
                <a:solidFill>
                  <a:srgbClr val="CBD5E1"/>
                </a:solidFill>
                <a:latin typeface="Plus Jakarta Sans"/>
              </a:rPr>
              <a:t>Conditional Formatting: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Visual alert flags for delays.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79269" y="4255561"/>
            <a:ext cx="66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45944" y="4253656"/>
            <a:ext cx="5346055" cy="222795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1" sz="975" i="0" u="none">
                <a:solidFill>
                  <a:srgbClr val="CBD5E1"/>
                </a:solidFill>
                <a:latin typeface="Plus Jakarta Sans"/>
              </a:rPr>
              <a:t>What-If Parameters: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Scenario testing for cost recovery.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191000"/>
            <a:ext cx="262890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90900" y="4191000"/>
            <a:ext cx="262890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4191000"/>
            <a:ext cx="262890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0" y="4191000"/>
            <a:ext cx="262890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5372100"/>
            <a:ext cx="262890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90900" y="5372100"/>
            <a:ext cx="262890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5372100"/>
            <a:ext cx="262890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53500" y="5372100"/>
            <a:ext cx="262890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4191000"/>
            <a:ext cx="2628900" cy="285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90900" y="4191000"/>
            <a:ext cx="2628900" cy="285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4191000"/>
            <a:ext cx="2628900" cy="285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53500" y="4191000"/>
            <a:ext cx="2628900" cy="285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5372100"/>
            <a:ext cx="2628900" cy="285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0900" y="5372100"/>
            <a:ext cx="2628900" cy="28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5372100"/>
            <a:ext cx="2628900" cy="28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53500" y="5372100"/>
            <a:ext cx="26289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PERFORMANCE SCORECARD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66750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Executive KPI Scorecard: Core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4391025"/>
            <a:ext cx="28575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Delivered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050" y="4572000"/>
            <a:ext cx="2857500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₦7.11M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50" y="4924425"/>
            <a:ext cx="28575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16A34A"/>
                </a:solidFill>
                <a:latin typeface="Plus Jakarta Sans"/>
              </a:rPr>
              <a:t>Realized earnings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2350" y="4391025"/>
            <a:ext cx="28575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Avg Order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2350" y="4572000"/>
            <a:ext cx="2857500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₦4,504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2350" y="4924425"/>
            <a:ext cx="28575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16A34A"/>
                </a:solidFill>
                <a:latin typeface="Plus Jakarta Sans"/>
              </a:rPr>
              <a:t>Stable cart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3650" y="4391025"/>
            <a:ext cx="28575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Customer Retention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3650" y="4572000"/>
            <a:ext cx="2857500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95.96%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3650" y="4924425"/>
            <a:ext cx="28575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16A34A"/>
                </a:solidFill>
                <a:latin typeface="Plus Jakarta Sans"/>
              </a:rPr>
              <a:t>High client loyalty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4950" y="4391025"/>
            <a:ext cx="28575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On-Time 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4950" y="4572000"/>
            <a:ext cx="2857500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DC2626"/>
                </a:solidFill>
                <a:latin typeface="Plus Jakarta Sans"/>
              </a:rPr>
              <a:t>36.28%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24950" y="4924425"/>
            <a:ext cx="28575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DC2626"/>
                </a:solidFill>
                <a:latin typeface="Plus Jakarta Sans"/>
              </a:rPr>
              <a:t>Target: 80.0%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050" y="5572125"/>
            <a:ext cx="28575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Cancellation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050" y="5753100"/>
            <a:ext cx="2857500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DC2626"/>
                </a:solidFill>
                <a:latin typeface="Plus Jakarta Sans"/>
              </a:rPr>
              <a:t>32.52%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050" y="6105525"/>
            <a:ext cx="28575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DC2626"/>
                </a:solidFill>
                <a:latin typeface="Plus Jakarta Sans"/>
              </a:rPr>
              <a:t>Severe value leak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2350" y="5572125"/>
            <a:ext cx="28575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Product Return 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2350" y="5753100"/>
            <a:ext cx="2857500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D97706"/>
                </a:solidFill>
                <a:latin typeface="Plus Jakarta Sans"/>
              </a:rPr>
              <a:t>9.46%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2350" y="6105525"/>
            <a:ext cx="28575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D97706"/>
                </a:solidFill>
                <a:latin typeface="Plus Jakarta Sans"/>
              </a:rPr>
              <a:t>Handling errors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3650" y="5572125"/>
            <a:ext cx="28575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Inventory Turnover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3650" y="5753100"/>
            <a:ext cx="2857500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D97706"/>
                </a:solidFill>
                <a:latin typeface="Plus Jakarta Sans"/>
              </a:rPr>
              <a:t>0.027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43650" y="6105525"/>
            <a:ext cx="28575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D97706"/>
                </a:solidFill>
                <a:latin typeface="Plus Jakarta Sans"/>
              </a:rPr>
              <a:t>Sluggish stock velocity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4950" y="5572125"/>
            <a:ext cx="28575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Est. Warehouse Util.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4950" y="5753100"/>
            <a:ext cx="2857500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84.0%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24950" y="6105525"/>
            <a:ext cx="28575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0284C7"/>
                </a:solidFill>
                <a:latin typeface="Plus Jakarta Sans"/>
              </a:rPr>
              <a:t>High capacity 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38437"/>
            <a:ext cx="5223123" cy="1990725"/>
          </a:xfrm>
          <a:prstGeom prst="roundRect">
            <a:avLst>
              <a:gd name="adj" fmla="val 5741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37523" y="2309812"/>
            <a:ext cx="5444876" cy="790575"/>
          </a:xfrm>
          <a:prstGeom prst="roundRect">
            <a:avLst>
              <a:gd name="adj" fmla="val 96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37523" y="3252787"/>
            <a:ext cx="5444876" cy="962025"/>
          </a:xfrm>
          <a:prstGeom prst="roundRect">
            <a:avLst>
              <a:gd name="adj" fmla="val 79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37523" y="4367212"/>
            <a:ext cx="5444876" cy="790575"/>
          </a:xfrm>
          <a:prstGeom prst="roundRect">
            <a:avLst>
              <a:gd name="adj" fmla="val 96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C2626"/>
                </a:solidFill>
                <a:latin typeface="Plus Jakarta Sans"/>
              </a:rPr>
              <a:t>INSIGHT 1 — DELIVERY LAGS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Network-Wide Fulfillment Delays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5334" y="3081337"/>
            <a:ext cx="5671653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DC2626"/>
                </a:solidFill>
                <a:latin typeface="Plus Jakarta Sans"/>
              </a:rPr>
              <a:t>36.3%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334" y="3957637"/>
            <a:ext cx="567165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991B1B"/>
                </a:solidFill>
                <a:latin typeface="Plus Jakarta Sans"/>
              </a:rPr>
              <a:t>Overall On-Time Delivery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334" y="4233862"/>
            <a:ext cx="567165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7F1D1D"/>
                </a:solidFill>
                <a:latin typeface="Plus Jakarta Sans"/>
              </a:rPr>
              <a:t>Far below the 80% operational benchmark.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8023" y="2500312"/>
            <a:ext cx="586397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Delay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8023" y="2738437"/>
            <a:ext cx="586397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Out of 3,186 delayed shipments,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1,965 shipments are 5 to 7 days late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8023" y="3443287"/>
            <a:ext cx="586397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Hub Performance Variance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8023" y="3681412"/>
            <a:ext cx="515912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Top hub (W01) achieves only 41.3% on-time speed. Workload volume shows no correlation with delays.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8023" y="4557712"/>
            <a:ext cx="586397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Regional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8023" y="4795837"/>
            <a:ext cx="586397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Lagos achieves highest speed (39.0%), while Kano records severe lag (34.3%).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551289"/>
            <a:ext cx="10972800" cy="773310"/>
          </a:xfrm>
          <a:prstGeom prst="roundRect">
            <a:avLst>
              <a:gd name="adj" fmla="val 9853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28007"/>
            <a:ext cx="3505200" cy="1438275"/>
          </a:xfrm>
          <a:prstGeom prst="roundRect">
            <a:avLst>
              <a:gd name="adj" fmla="val 79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628007"/>
            <a:ext cx="3505200" cy="1438275"/>
          </a:xfrm>
          <a:prstGeom prst="roundRect">
            <a:avLst>
              <a:gd name="adj" fmla="val 79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628007"/>
            <a:ext cx="3505200" cy="1438275"/>
          </a:xfrm>
          <a:prstGeom prst="roundRect">
            <a:avLst>
              <a:gd name="adj" fmla="val 79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5823644"/>
            <a:ext cx="2286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C2626"/>
                </a:solidFill>
                <a:latin typeface="Plus Jakarta Sans"/>
              </a:rPr>
              <a:t>INSIGHT 2 — REVENUE REALIZATION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Only 31.6% of Order Value is Delivered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0625" y="5751314"/>
            <a:ext cx="102870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991B1B"/>
                </a:solidFill>
                <a:latin typeface="Plus Jakarta Sans"/>
              </a:rPr>
              <a:t>Critical Shipping Inefficiency:</a:t>
            </a:r>
            <a:r>
              <a:rPr b="0" sz="1050" i="0" u="none">
                <a:solidFill>
                  <a:srgbClr val="991B1B"/>
                </a:solidFill>
                <a:latin typeface="Plus Jakarta Sans"/>
              </a:rPr>
              <a:t> Every one of the 3,342 cancelled or pending orders still generates a transit dispatch, causing SwiftLog to incur full freight shipping costs on uncompleted sales.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894707"/>
            <a:ext cx="3714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Delivered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142357"/>
            <a:ext cx="371475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6A34A"/>
                </a:solidFill>
                <a:latin typeface="Plus Jakarta Sans"/>
              </a:rPr>
              <a:t>₦7.11M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647182"/>
            <a:ext cx="3714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1,578 Successful 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2894707"/>
            <a:ext cx="3714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Pending Order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142357"/>
            <a:ext cx="371475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D97706"/>
                </a:solidFill>
                <a:latin typeface="Plus Jakarta Sans"/>
              </a:rPr>
              <a:t>₦7.33M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647182"/>
            <a:ext cx="3714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1,716 Orders in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2894707"/>
            <a:ext cx="3714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Cancelled Order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3142357"/>
            <a:ext cx="371475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DC2626"/>
                </a:solidFill>
                <a:latin typeface="Plus Jakarta Sans"/>
              </a:rPr>
              <a:t>₦7.23M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3900" y="3647182"/>
            <a:ext cx="3714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1,706 Cancelled Orders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57487"/>
            <a:ext cx="5140076" cy="1952625"/>
          </a:xfrm>
          <a:prstGeom prst="roundRect">
            <a:avLst>
              <a:gd name="adj" fmla="val 58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54476" y="2752725"/>
            <a:ext cx="5527923" cy="904875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54476" y="3810000"/>
            <a:ext cx="5527923" cy="904875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54476" y="2752725"/>
            <a:ext cx="38100" cy="9048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54476" y="3810000"/>
            <a:ext cx="38100" cy="9048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INSIGHT 3 — INVENTORY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Excess Stock Combined with Regional Stockouts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024187"/>
            <a:ext cx="604626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Stock Imbalance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414712"/>
            <a:ext cx="470192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Overall inventory holds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1.01M units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across hubs—representing 12.2x the volume needed for active orders.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986212"/>
            <a:ext cx="470192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Despite massive overall volume, stock positioning is misaligned with demand locations.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3076" y="2943225"/>
            <a:ext cx="5908923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B45309"/>
                </a:solidFill>
                <a:latin typeface="Plus Jakarta Sans"/>
              </a:rPr>
              <a:t>160 SKUs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3076" y="3314700"/>
            <a:ext cx="590892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2400E"/>
                </a:solidFill>
                <a:latin typeface="Plus Jakarta Sans"/>
              </a:rPr>
              <a:t>Products experiencing severe stockouts (&lt;100 units) at specific warehouse locations.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3076" y="4000500"/>
            <a:ext cx="5908923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0.027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3076" y="4371975"/>
            <a:ext cx="590892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Extremely low turnover ratio indicating capital locked in slow-moving stock.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17626"/>
            <a:ext cx="5372100" cy="1632346"/>
          </a:xfrm>
          <a:prstGeom prst="roundRect">
            <a:avLst>
              <a:gd name="adj" fmla="val 70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805112"/>
            <a:ext cx="5372100" cy="1857375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38900" y="3786187"/>
            <a:ext cx="4914900" cy="571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INSIGHT 4 — REVENUE DRIVERS &amp; RETURNS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Distributed Demand &amp; Operational Return Causes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146226"/>
            <a:ext cx="64508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Customer &amp; Category Concentration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3033712"/>
            <a:ext cx="5753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Return Rate Mechanics (9.46% Overall)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8900" y="3367087"/>
            <a:ext cx="5010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Return rates are uniform across product categories, proving issues stem from fulfillment quality rather than defects.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1300" y="3900487"/>
            <a:ext cx="4705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63% of Returns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975" y="3480077"/>
            <a:ext cx="666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3479601"/>
            <a:ext cx="5929312" cy="210442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Top 10 customers drive 5.05% of delivered revenue.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975" y="3690520"/>
            <a:ext cx="666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50" y="3690044"/>
            <a:ext cx="5929312" cy="210442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Top 200 customers drive 52.5% of total value.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975" y="3900963"/>
            <a:ext cx="666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50" y="3900487"/>
            <a:ext cx="5929312" cy="210442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1" sz="975" i="0" u="none">
                <a:solidFill>
                  <a:srgbClr val="475569"/>
                </a:solidFill>
                <a:latin typeface="Plus Jakarta Sans"/>
              </a:rPr>
              <a:t>Fashion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 dominates sales at 38.4% of total revenue.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975" y="4111406"/>
            <a:ext cx="666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650" y="4110930"/>
            <a:ext cx="5929312" cy="210442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Top 10 SKUs generate 9.85% of sales (priced ₦416–₦495).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1300" y="4100512"/>
            <a:ext cx="56007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Caused by Wrong Item Shipped or Transit Damage.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343400"/>
            <a:ext cx="3555950" cy="95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17950" y="4343400"/>
            <a:ext cx="3555950" cy="95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4343400"/>
            <a:ext cx="3556099" cy="95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5448300"/>
            <a:ext cx="3555950" cy="95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17950" y="5448300"/>
            <a:ext cx="3555950" cy="95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26300" y="5448300"/>
            <a:ext cx="3556099" cy="95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343400"/>
            <a:ext cx="35559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7950" y="4343400"/>
            <a:ext cx="35559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26300" y="4343400"/>
            <a:ext cx="3556099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5448300"/>
            <a:ext cx="35559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7950" y="5448300"/>
            <a:ext cx="35559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26300" y="5448300"/>
            <a:ext cx="3556099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STRATEGIC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66750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12 Strategic Actions Across Key Pillars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" y="4543425"/>
            <a:ext cx="421712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1. Delivery 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50" y="4781550"/>
            <a:ext cx="33083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64748B"/>
                </a:solidFill>
                <a:latin typeface="Plus Jakarta Sans"/>
              </a:rPr>
              <a:t>Set interim 50% target; flag delays &gt;2 days; replicate W01/W10 best practices.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400" y="4543425"/>
            <a:ext cx="421712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2. Inventory Redistribution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400" y="4781550"/>
            <a:ext cx="33083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64748B"/>
                </a:solidFill>
                <a:latin typeface="Plus Jakarta Sans"/>
              </a:rPr>
              <a:t>Set max caps &amp; reorder points; reallocate stock to solve 160 SKU shortages.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7750" y="4543425"/>
            <a:ext cx="399424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3. Order Cost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7750" y="4781550"/>
            <a:ext cx="330844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64748B"/>
                </a:solidFill>
                <a:latin typeface="Plus Jakarta Sans"/>
              </a:rPr>
              <a:t>Dispatch only confirmed orders; clear 1,716 pending backlogs; sync status with freight.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50" y="5648325"/>
            <a:ext cx="421712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4. Quality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050" y="5886450"/>
            <a:ext cx="33083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64748B"/>
                </a:solidFill>
                <a:latin typeface="Plus Jakarta Sans"/>
              </a:rPr>
              <a:t>Mandate pick-and-pack verification; upgrade packaging to eliminate transit damage.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400" y="5648325"/>
            <a:ext cx="421712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5. Growth &amp; Loyalty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9400" y="5886450"/>
            <a:ext cx="33083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64748B"/>
                </a:solidFill>
                <a:latin typeface="Plus Jakarta Sans"/>
              </a:rPr>
              <a:t>Launch top-200 customer loyalty tiers; expand Fashion &amp; Food lines for August surge.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7750" y="5648325"/>
            <a:ext cx="399424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6. Governance &amp;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7750" y="5886450"/>
            <a:ext cx="330844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64748B"/>
                </a:solidFill>
                <a:latin typeface="Plus Jakarta Sans"/>
              </a:rPr>
              <a:t>Add SupplierIDs &amp; timestamps; pilot nearest-hub routing in Ibadan; run weekly scorecard.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857625"/>
            <a:ext cx="6026794" cy="2466975"/>
          </a:xfrm>
          <a:prstGeom prst="roundRect">
            <a:avLst>
              <a:gd name="adj" fmla="val 46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1194" y="4157662"/>
            <a:ext cx="4641205" cy="857250"/>
          </a:xfrm>
          <a:prstGeom prst="roundRect">
            <a:avLst>
              <a:gd name="adj" fmla="val 1111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41194" y="5167312"/>
            <a:ext cx="4641205" cy="857250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4086225"/>
          <a:ext cx="5569593" cy="20097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63650"/>
                <a:gridCol w="1653331"/>
                <a:gridCol w="1852612"/>
              </a:tblGrid>
              <a:tr h="40195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Metric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Current Baseline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Proposed Target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On-Time Delivery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36.3%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50% (90d) → 80%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Cancellation Rate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32.5%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≤ 20.0%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Return Rate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D97706"/>
                          </a:solidFill>
                          <a:latin typeface="Plus Jakarta Sans"/>
                        </a:rPr>
                        <a:t>9.5%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≤ 7.0%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Max Shipments/Staff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37.8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≤ 30.0 Balance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FINANCIAL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Targeted Operational Targets &amp; Uplift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1694" y="4348162"/>
            <a:ext cx="506030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Plus Jakarta Sans"/>
              </a:rPr>
              <a:t>+500 On-Time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1694" y="4672012"/>
            <a:ext cx="506030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FFFFF"/>
                </a:solidFill>
                <a:latin typeface="Plus Jakarta Sans"/>
              </a:rPr>
              <a:t>Gained for every 10-point improvement in fulfillment rate.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1694" y="5357812"/>
            <a:ext cx="506030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+₦2.2M Delivered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1694" y="5681662"/>
            <a:ext cx="506030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Recovered for every 10-point reduction in cancellations.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48350"/>
            <a:ext cx="10972800" cy="400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40397"/>
            <a:ext cx="3505200" cy="1234380"/>
          </a:xfrm>
          <a:prstGeom prst="roundRect">
            <a:avLst>
              <a:gd name="adj" fmla="val 9259"/>
            </a:avLst>
          </a:prstGeom>
          <a:solidFill>
            <a:srgbClr val="1E293B"/>
          </a:solidFill>
          <a:ln w="285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940397"/>
            <a:ext cx="35052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2940397"/>
            <a:ext cx="3505200" cy="1234380"/>
          </a:xfrm>
          <a:prstGeom prst="roundRect">
            <a:avLst>
              <a:gd name="adj" fmla="val 9259"/>
            </a:avLst>
          </a:prstGeom>
          <a:solidFill>
            <a:srgbClr val="1E293B"/>
          </a:solidFill>
          <a:ln w="285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2940397"/>
            <a:ext cx="35052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77200" y="2940397"/>
            <a:ext cx="3505200" cy="1234380"/>
          </a:xfrm>
          <a:prstGeom prst="roundRect">
            <a:avLst>
              <a:gd name="adj" fmla="val 9259"/>
            </a:avLst>
          </a:prstGeom>
          <a:solidFill>
            <a:srgbClr val="1E293B"/>
          </a:solidFill>
          <a:ln w="285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77200" y="2940397"/>
            <a:ext cx="35052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5848350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6096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EXECUTIVE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8382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Key Takeaways &amp; Action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207097"/>
            <a:ext cx="3067050" cy="700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1. Fix Delivery &amp; Cancellations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207097"/>
            <a:ext cx="3067050" cy="700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2. Rebalance 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207097"/>
            <a:ext cx="3067050" cy="700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3. Resolve Data Gaps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048375"/>
            <a:ext cx="2190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Thank you for your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72675" y="6072187"/>
            <a:ext cx="2012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Questions &amp; Executive Q&amp;A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511897"/>
            <a:ext cx="306705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Directly captures lost value—63.7% of orders delayed and 66.8% undelivered.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0100" y="3511897"/>
            <a:ext cx="306705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Eliminate the 160 regional SKU shortages while unlocking tied-up capital.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3900" y="3511897"/>
            <a:ext cx="306705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Implement SupplierIDs and precise timestamps for real-time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